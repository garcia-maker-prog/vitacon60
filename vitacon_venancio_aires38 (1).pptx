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69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494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" y="1481328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137160" y="1874520"/>
            <a:ext cx="3200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Venâncio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Aires 38</a:t>
            </a:r>
            <a:endParaRPr lang="en-US" sz="3600" dirty="0"/>
          </a:p>
        </p:txBody>
      </p:sp>
      <p:sp>
        <p:nvSpPr>
          <p:cNvPr id="7" name="Shape 4"/>
          <p:cNvSpPr/>
          <p:nvPr/>
        </p:nvSpPr>
        <p:spPr>
          <a:xfrm>
            <a:off x="137160" y="3291840"/>
            <a:ext cx="1097280" cy="54864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37160" y="340156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Pré-lançamento · Perdizes, SP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37160" y="3675888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Entrega: dezembro 2029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749040" y="6400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RENTABILIDADE COMPLETO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749040" y="914400"/>
            <a:ext cx="50292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este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é um</a:t>
            </a:r>
            <a:endParaRPr lang="en-US" sz="30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ótimo investimento?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3749040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R$ 450k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3749040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total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93208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R$ 135k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5093208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inicial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437376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&gt;16% a.a.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6437376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781544" y="3108960"/>
            <a:ext cx="1280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R$ 593/mês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7781544" y="3584448"/>
            <a:ext cx="1280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obras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3749040" y="448056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base R$ 420 · Dias de jogos/eventos: R$ 1.600+ · 17m² · Allianz Parque · Barra Funda · Anhembi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INVESTIMENTO · FLUXO 30/70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funciona o fluxo financeiro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4023360" cy="347472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402336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Durante as obras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1764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– 2029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Desembolso total (30%)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43200" y="2121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R$ 135.000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mensal (até entrega)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43200" y="2578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R$ 593/mês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correção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3035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493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Valoriz. estimada obras (+25%/ano ≈ 80%)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743200" y="34930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R$ 360.000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950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Patrimônio estimado na entrega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743200" y="3950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R$ 810.000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34840" y="2606040"/>
            <a:ext cx="32004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2468880"/>
            <a:ext cx="54864" cy="34747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1188720"/>
            <a:ext cx="4023360" cy="347472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1188720"/>
            <a:ext cx="4023360" cy="54864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1261872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937760" y="14630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studio se paga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4937760" y="1764792"/>
            <a:ext cx="3749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Pós-entrega dez/2029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937760" y="21214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devedor (70%)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223760" y="21214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R$ 315.000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25786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 anual (75% ocup.)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23760" y="25786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R$ 115.920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37760" y="30358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operacionais (35%)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223760" y="3035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R$ 40.572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34930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 anual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223760" y="34930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R$ 75.348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37760" y="3950208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 financiamento anual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223760" y="39502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R$ 40.800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800600" y="4407408"/>
            <a:ext cx="4023360" cy="347472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28032" y="4407408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Saldo positivo anual após financiamento: + R$ ~9.000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base R$ 420 · Dias de jogos/grandes eventos: R$ 1.600+ · Custos operacionais: plataforma, limpeza, adm., IPTU e condomínio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LOCAÇÃO POR TEMPORADA · AIRBNB / HOUSI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cenários de ocupação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98755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Diária base: R$ 420 · Dias de jogos e grandes eventos: R$ 1.600+ · Custos operacionais: 35% da receita bruta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2651760" cy="347472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234440"/>
            <a:ext cx="2651760" cy="45720"/>
          </a:xfrm>
          <a:prstGeom prst="rect">
            <a:avLst/>
          </a:prstGeom>
          <a:solidFill>
            <a:srgbClr val="E8830A"/>
          </a:solidFill>
          <a:ln w="12700">
            <a:solidFill>
              <a:srgbClr val="E883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ocupação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Dias/mês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28800" y="16184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dias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bruta/mês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28800" y="20482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R$ 8.190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478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bruta/ano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828800" y="2478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R$ 98.280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907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op. (35%)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0" y="2907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R$ 34.398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líquido/ano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828800" y="3337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R$ 63.882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206240"/>
            <a:ext cx="2377440" cy="384048"/>
          </a:xfrm>
          <a:prstGeom prst="rect">
            <a:avLst/>
          </a:prstGeom>
          <a:solidFill>
            <a:srgbClr val="E8830A"/>
          </a:solidFill>
          <a:ln w="12700">
            <a:solidFill>
              <a:srgbClr val="E8830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06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14,2% a.a.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108960" y="1234440"/>
            <a:ext cx="2651760" cy="3474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4612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ocupação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246120" y="1554480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cenário base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17830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Dias/mês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617720" y="178308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dias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246120" y="221284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bruta/mês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17720" y="221284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R$ 9.660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46120" y="264261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bruta/ano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17720" y="264261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R$ 115.920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46120" y="30723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op. (35%)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617720" y="307238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R$ 40.572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46120" y="350215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líquido/ano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617720" y="350215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R$ 75.348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46120" y="4206240"/>
            <a:ext cx="2377440" cy="38404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46120" y="4206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16,7% a.a.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172200" y="1234440"/>
            <a:ext cx="2651760" cy="347472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72200" y="1234440"/>
            <a:ext cx="2651760" cy="45720"/>
          </a:xfrm>
          <a:prstGeom prst="rect">
            <a:avLst/>
          </a:prstGeom>
          <a:solidFill>
            <a:srgbClr val="12B5C6"/>
          </a:solidFill>
          <a:ln w="12700">
            <a:solidFill>
              <a:srgbClr val="12B5C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09360" y="12984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ocupação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30936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Dias/mês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680960" y="1618488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dias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309360" y="204825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bruta/mês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680960" y="20482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R$ 10.920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09360" y="247802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bruta/ano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7680960" y="2478024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R$ 131.040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09360" y="290779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Custos op. (35%)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7680960" y="2907792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R$ 45.864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09360" y="333756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líquido/ano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7680960" y="3337560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R$ 85.176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309360" y="4206240"/>
            <a:ext cx="2377440" cy="384048"/>
          </a:xfrm>
          <a:prstGeom prst="rect">
            <a:avLst/>
          </a:prstGeom>
          <a:solidFill>
            <a:srgbClr val="12B5C6"/>
          </a:solidFill>
          <a:ln w="12700">
            <a:solidFill>
              <a:srgbClr val="12B5C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2062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18,9% a.a.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320040" y="4864608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capital próprio (R$ 135k): 65% → ~2,1 anos · 75% → ~1,8 anos · 85% → ~1,6 anos  |  Em dias de jogos/eventos: diárias R$ 1.600+ ampliam o retorno acima dos cenários projetados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PATRIMONIAL E COMPARATIVO DE MERCADO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que renda: você constrói patrimônio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43000"/>
            <a:ext cx="416052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durante obras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664208"/>
            <a:ext cx="384048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91640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pré-lançamento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108960" y="169164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R$ 450.000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58568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 err="1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</a:t>
            </a: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Studio </a:t>
            </a:r>
            <a:r>
              <a:rPr lang="en-US" sz="1000" dirty="0" err="1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</a:t>
            </a: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SP (4 anos)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108960" y="2258568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    80%	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98064"/>
            <a:ext cx="384048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825496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 (+25%/ano ≈ +80%)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2825496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R$ 810.000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364992"/>
            <a:ext cx="38404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392424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capital estimado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08960" y="3392424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R$ 360.000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3840480" cy="457200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959352"/>
            <a:ext cx="2560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anualizada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108960" y="395935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~25% a.a.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5262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Dados: FipeZap e QuintoAndar Research · 25% a.a. = ~80% no período de obras (4 anos) · Patrimônio estimado na entrega: R$ 810.000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663440" y="1143000"/>
            <a:ext cx="416052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663440" y="1143000"/>
            <a:ext cx="416052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2344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Comparativo com CDI / Selic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00600" y="153619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Selic: 10,5% a.a. (Focus/BCB)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00600" y="1901952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 / Selic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2157984"/>
            <a:ext cx="347472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2157984"/>
            <a:ext cx="1563624" cy="256032"/>
          </a:xfrm>
          <a:prstGeom prst="rect">
            <a:avLst/>
          </a:prstGeom>
          <a:solidFill>
            <a:srgbClr val="E8830A"/>
          </a:solidFill>
          <a:ln w="12700">
            <a:solidFill>
              <a:srgbClr val="E883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37376" y="2157984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10,5%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56032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 65% ocup.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2816352"/>
            <a:ext cx="347472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2816352"/>
            <a:ext cx="2119579" cy="256032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93331" y="2816352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14,2%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00600" y="321868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 75% ocup.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00600" y="3474720"/>
            <a:ext cx="347472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00600" y="3474720"/>
            <a:ext cx="2501798" cy="25603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375550" y="3474720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16,7%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00600" y="387705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 85% ocup.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800600" y="4133088"/>
            <a:ext cx="3474720" cy="256032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00600" y="4133088"/>
            <a:ext cx="2814523" cy="256032"/>
          </a:xfrm>
          <a:prstGeom prst="rect">
            <a:avLst/>
          </a:prstGeom>
          <a:solidFill>
            <a:srgbClr val="12B5C6"/>
          </a:solidFill>
          <a:ln w="12700">
            <a:solidFill>
              <a:srgbClr val="12B5C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88275" y="4133088"/>
            <a:ext cx="548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18,9%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389120"/>
            <a:ext cx="3840480" cy="347472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438912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sobre CDI (cenário base): +6,2 p.p.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DE RETORNO · CENÁRIO BASE 75% OCUPAÇÃO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 5 e 10 anos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70432"/>
            <a:ext cx="4160520" cy="356616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70432"/>
            <a:ext cx="4160520" cy="54864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43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anos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642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acumulada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83464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R$ 376.740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216712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2585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patrimonial (+80%)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834640" y="22585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R$ 360.000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76148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852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próprio investido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834640" y="28529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R$ 135.000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447288"/>
            <a:ext cx="3840480" cy="5029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483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total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834640" y="34838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R$ 736.740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sobre capital próprio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0" y="4069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546%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4663440" y="1170432"/>
            <a:ext cx="4160520" cy="356616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1170432"/>
            <a:ext cx="4160520" cy="54864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24358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anos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00600" y="166420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líquida acumulada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78040" y="166420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R$ 753.480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16712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25856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patrimonial (+80%)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178040" y="225856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R$ 450.000+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276148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2852928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próprio investido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178040" y="2852928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R$ 135.000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800600" y="3355848"/>
            <a:ext cx="3840480" cy="9144"/>
          </a:xfrm>
          <a:prstGeom prst="rect">
            <a:avLst/>
          </a:prstGeom>
          <a:solidFill>
            <a:srgbClr val="1A3448"/>
          </a:solidFill>
          <a:ln w="12700">
            <a:solidFill>
              <a:srgbClr val="1A344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3447288"/>
            <a:ext cx="3840480" cy="50292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92040" y="34838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total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178040" y="3483864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R$ 1.203.480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800600" y="42062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sobre capital próprio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086600" y="4069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8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320040" y="4846320"/>
            <a:ext cx="8503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25%/ano ≈ 80% no período de obras · Patrimônio estimado na entrega: R$ 810.000 · Diárias R$ 1.600+ em dias de jogos não incluídas (upside adicional)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· RETORNO SOBRE CAPITAL PRÓPRIO (R$ 135K)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menos de 2 anos você recupera o capital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54864" cy="960120"/>
          </a:xfrm>
          <a:prstGeom prst="rect">
            <a:avLst/>
          </a:prstGeom>
          <a:solidFill>
            <a:srgbClr val="E8830A"/>
          </a:solidFill>
          <a:ln w="12700">
            <a:solidFill>
              <a:srgbClr val="E8830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07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ocupação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581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R$ 63.882/ano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77440" y="1490472"/>
            <a:ext cx="5029200" cy="292608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0" y="1490472"/>
            <a:ext cx="3520440" cy="292608"/>
          </a:xfrm>
          <a:prstGeom prst="rect">
            <a:avLst/>
          </a:prstGeom>
          <a:solidFill>
            <a:srgbClr val="E8830A"/>
          </a:solidFill>
          <a:ln w="12700">
            <a:solidFill>
              <a:srgbClr val="E8830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0" y="1417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E883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~2,1 anos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20040" y="23774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2377440"/>
            <a:ext cx="54864" cy="9601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450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ocupação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R$ 75.348/ano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377440" y="2633472"/>
            <a:ext cx="5029200" cy="292608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77440" y="2633472"/>
            <a:ext cx="3017520" cy="292608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560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 anos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320040" y="352044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0440"/>
            <a:ext cx="54864" cy="96012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5935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85% ocupação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386791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6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R$ 85.176/ano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3776472"/>
            <a:ext cx="5029200" cy="292608"/>
          </a:xfrm>
          <a:prstGeom prst="rect">
            <a:avLst/>
          </a:prstGeom>
          <a:solidFill>
            <a:srgbClr val="F0F6FA"/>
          </a:solidFill>
          <a:ln w="12700">
            <a:solidFill>
              <a:srgbClr val="D6E3E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377440" y="3776472"/>
            <a:ext cx="2715768" cy="292608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0" y="3703320"/>
            <a:ext cx="1188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500" b="1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~1,6 anos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320040" y="4572000"/>
            <a:ext cx="8503920" cy="384048"/>
          </a:xfrm>
          <a:prstGeom prst="rect">
            <a:avLst/>
          </a:prstGeom>
          <a:solidFill>
            <a:srgbClr val="0D1F2D"/>
          </a:solidFill>
          <a:ln w="12700">
            <a:solidFill>
              <a:srgbClr val="0D1F2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572000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calculado sobre o capital próprio real (R$ 135k) — os R$ 315k restantes são cobertos pela receita de locação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5603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12B5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 ESTRATÉGICA · PERDIZES, SÃO PAULO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365760" y="475488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esta região é premium para locação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06240" cy="1572768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234440"/>
            <a:ext cx="420624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160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13441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Allianz Parque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57200" y="1746504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oficial · +200 eventos/ano · Em dias de jogos e shows as diárias na região passam de R$ 1.600, ampliando o retorno muito além do cenário base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4206240" cy="1572768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54880" y="1234440"/>
            <a:ext cx="420624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37160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34416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Shopping Bourbon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1746504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Âncora de comércio e serviços · Atrai fluxo constante de visitantes e turistas de negócios durante a semana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" y="2971800"/>
            <a:ext cx="4206240" cy="1572768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20040" y="2971800"/>
            <a:ext cx="420624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108960"/>
            <a:ext cx="320040" cy="3200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8680" y="30815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Barra Funda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457200" y="3483864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 de transporte regional · Metrô + ônibus + rodoviária · Garante ocupação mesmo nos períodos sem eventos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2971800"/>
            <a:ext cx="4206240" cy="1572768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54880" y="2971800"/>
            <a:ext cx="420624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92040" y="310896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03520" y="3081528"/>
            <a:ext cx="3520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Distrito Anhembi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3483864"/>
            <a:ext cx="393192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</a:t>
            </a:r>
            <a:r>
              <a:rPr lang="en-US" sz="100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official - Centro </a:t>
            </a:r>
            <a:r>
              <a:rPr lang="en-US" sz="10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convenções e eventos de grande porte · Feiras, congressos e shows adicionam demanda complementar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F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Vitacon Venâncio Aires 38 · Studio 17m² · Perdizes, SP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inicial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R$ 135k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durante obras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114300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1143000"/>
            <a:ext cx="2743200" cy="4572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Rentab. cenário base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8328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16,7% a.a.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38328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 ocupação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72200" y="114300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143000"/>
            <a:ext cx="2743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12344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Prêmio vs CDI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+6,2 p.p.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309360" y="202996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Selic 10,5%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56032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560320"/>
            <a:ext cx="2743200" cy="4572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cap. próprio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5720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~1,8 anos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457200" y="34472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A7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base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46120" y="256032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46120" y="2560320"/>
            <a:ext cx="2743200" cy="45720"/>
          </a:xfrm>
          <a:prstGeom prst="rect">
            <a:avLst/>
          </a:prstGeom>
          <a:solidFill>
            <a:srgbClr val="0D9E75"/>
          </a:solidFill>
          <a:ln w="12700">
            <a:solidFill>
              <a:srgbClr val="0D9E7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em 10 anos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38328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891%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3383280" y="34472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9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capital próprio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172200" y="2560320"/>
            <a:ext cx="2743200" cy="1234440"/>
          </a:xfrm>
          <a:prstGeom prst="rect">
            <a:avLst/>
          </a:prstGeom>
          <a:solidFill>
            <a:srgbClr val="132B3D"/>
          </a:solidFill>
          <a:ln w="12700">
            <a:solidFill>
              <a:srgbClr val="132B3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72200" y="2560320"/>
            <a:ext cx="2743200" cy="4572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09360" y="26517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4B0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Valorização obras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309360" y="288036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+80%</a:t>
            </a:r>
            <a:endParaRPr lang="en-US" sz="2400" dirty="0"/>
          </a:p>
        </p:txBody>
      </p:sp>
      <p:sp>
        <p:nvSpPr>
          <p:cNvPr id="34" name="Text 32"/>
          <p:cNvSpPr/>
          <p:nvPr/>
        </p:nvSpPr>
        <p:spPr>
          <a:xfrm>
            <a:off x="6309360" y="3447288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E8A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a.a. × 4 anos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0" y="4709160"/>
            <a:ext cx="9144000" cy="434340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709160"/>
            <a:ext cx="8412480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investir com inteligência? Vamos conversar.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1020</Words>
  <Application>Microsoft Office PowerPoint</Application>
  <PresentationFormat>Apresentação na tela (16:9)</PresentationFormat>
  <Paragraphs>190</Paragraphs>
  <Slides>8</Slides>
  <Notes>8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Vitacon Venâncio Aires 38 — Estudo de Rentabilidade</dc:title>
  <dc:subject>PptxGenJS Presentation</dc:subject>
  <dc:creator>PptxGenJS</dc:creator>
  <cp:lastModifiedBy>garciaflav@gmail.com</cp:lastModifiedBy>
  <cp:revision>3</cp:revision>
  <dcterms:created xsi:type="dcterms:W3CDTF">2026-05-01T22:59:06Z</dcterms:created>
  <dcterms:modified xsi:type="dcterms:W3CDTF">2026-05-01T23:26:32Z</dcterms:modified>
</cp:coreProperties>
</file>